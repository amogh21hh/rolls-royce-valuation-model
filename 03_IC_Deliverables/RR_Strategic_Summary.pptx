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Free Cash Flow Bridge — 2025A to 2030E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FCF (£bn)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&quot;£&quot;0.00&quot;bn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2025A</c:v>
                  </c:pt>
                  <c:pt idx="1">
                    <c:v>2026E</c:v>
                  </c:pt>
                  <c:pt idx="2">
                    <c:v>2027E</c:v>
                  </c:pt>
                  <c:pt idx="3">
                    <c:v>2028E</c:v>
                  </c:pt>
                  <c:pt idx="4">
                    <c:v>2029E</c:v>
                  </c:pt>
                  <c:pt idx="5">
                    <c:v>2030E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3.3</c:v>
                </c:pt>
                <c:pt idx="1">
                  <c:v>3.7</c:v>
                </c:pt>
                <c:pt idx="2">
                  <c:v>4.4</c:v>
                </c:pt>
                <c:pt idx="3">
                  <c:v>5.15</c:v>
                </c:pt>
                <c:pt idx="4">
                  <c:v>5.45</c:v>
                </c:pt>
                <c:pt idx="5">
                  <c:v>5.7</c:v>
                </c:pt>
              </c:numCache>
            </c:numRef>
          </c:val>
        </c:ser>
        <c:dLbls>
          <c:numFmt formatCode="&quot;£&quot;0.00&quot;bn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.5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OSPREY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58000" y="2743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 Holdings plc  |  LSE: RR.  |  23 May 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6537960"/>
            <a:ext cx="1143000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M&amp;A Advisory — IC Pre-read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836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50292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 &amp; Recommendation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105156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fully-priced compounder, not a turnaround story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1554480"/>
            <a:ext cx="3657600" cy="23774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6916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19659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HOLD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548640" y="28346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bias-to-trim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3246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Trim 15–20% above 1,250p.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Re-engage at 900–950p.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97680" y="1554480"/>
            <a:ext cx="3749040" cy="1097280"/>
          </a:xfrm>
          <a:prstGeom prst="rect">
            <a:avLst/>
          </a:prstGeom>
          <a:solidFill>
            <a:srgbClr val="F2F4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34840" y="16459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A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PRICE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34840" y="18745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1,208p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434840" y="23774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cap c.£100bn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138160" y="1554480"/>
            <a:ext cx="3749040" cy="1097280"/>
          </a:xfrm>
          <a:prstGeom prst="rect">
            <a:avLst/>
          </a:prstGeom>
          <a:solidFill>
            <a:srgbClr val="F2F4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75320" y="16459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A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DCF IMPLIED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75320" y="18745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898p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8275320" y="23774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WACC 9.5%, g 2.25%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297680" y="2834640"/>
            <a:ext cx="3749040" cy="1097280"/>
          </a:xfrm>
          <a:prstGeom prst="rect">
            <a:avLst/>
          </a:prstGeom>
          <a:solidFill>
            <a:srgbClr val="F2F4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34840" y="29260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A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IMPLIED UPSIDE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434840" y="315468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04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(26%)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4434840" y="36576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case downside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138160" y="2834640"/>
            <a:ext cx="3749040" cy="1097280"/>
          </a:xfrm>
          <a:prstGeom prst="rect">
            <a:avLst/>
          </a:prstGeom>
          <a:solidFill>
            <a:srgbClr val="F2F4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75320" y="29260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A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FY28 FCF TARGET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75320" y="315468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£5.0–5.3bn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8275320" y="36576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Upgraded mid-term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65760" y="416052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THESIS PILLARS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434840"/>
            <a:ext cx="1143000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" y="4617720"/>
            <a:ext cx="457200" cy="457200"/>
          </a:xfrm>
          <a:prstGeom prst="ellipse">
            <a:avLst/>
          </a:prstGeom>
          <a:solidFill>
            <a:srgbClr val="C9A961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4617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960120" y="461772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Rerating fully discounted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60120" y="4983480"/>
            <a:ext cx="3246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8x move since 2023 captures FCF inflection AND multiple expansion. Current price clears only below 8.5% WACC — pricing as IG utility, not cyclical OEM.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206240" y="4617720"/>
            <a:ext cx="457200" cy="457200"/>
          </a:xfrm>
          <a:prstGeom prst="ellipse">
            <a:avLst/>
          </a:prstGeom>
          <a:solidFill>
            <a:srgbClr val="C9A961"/>
          </a:solidFill>
          <a:ln/>
        </p:spPr>
      </p:sp>
      <p:sp>
        <p:nvSpPr>
          <p:cNvPr id="38" name="Text 36"/>
          <p:cNvSpPr/>
          <p:nvPr/>
        </p:nvSpPr>
        <p:spPr>
          <a:xfrm>
            <a:off x="4206240" y="4617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4800600" y="461772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Buyback signals floor, doesn't set one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800600" y="4983480"/>
            <a:ext cx="3246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£8bn mid-pt absorbs c.8% of float. Implies FCF yield floor c.5.5% — i.e. structural support sits at 900–950p, not at 1,200p.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046720" y="4617720"/>
            <a:ext cx="457200" cy="457200"/>
          </a:xfrm>
          <a:prstGeom prst="ellipse">
            <a:avLst/>
          </a:prstGeom>
          <a:solidFill>
            <a:srgbClr val="C9A961"/>
          </a:solidFill>
          <a:ln/>
        </p:spPr>
      </p:sp>
      <p:sp>
        <p:nvSpPr>
          <p:cNvPr id="42" name="Text 40"/>
          <p:cNvSpPr/>
          <p:nvPr/>
        </p:nvSpPr>
        <p:spPr>
          <a:xfrm>
            <a:off x="8046720" y="4617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8641080" y="461772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 target achievable, not de-risked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8641080" y="4983480"/>
            <a:ext cx="3246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 probability of clearing £5.0bn lower bound. Probability-weighted £4.85bn falls below management corridor.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OSPREY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58000" y="2743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 Holdings plc  |  LSE: RR.  |  23 May 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6537960"/>
            <a:ext cx="1143000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M&amp;A Advisory — IC Pre-read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836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50292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Cash Flow Trajectory &amp; Buyback Impact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105156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£3.3bn → £5.15bn FCF bridge — and what £7–9bn of buybacks actually does</a:t>
            </a:r>
            <a:endParaRPr lang="en-US" sz="14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365760" y="1554480"/>
          <a:ext cx="60350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640080" y="1874520"/>
            <a:ext cx="1920240" cy="640080"/>
          </a:xfrm>
          <a:prstGeom prst="rect">
            <a:avLst/>
          </a:prstGeom>
          <a:solidFill>
            <a:srgbClr val="FFF3D6"/>
          </a:solidFill>
          <a:ln w="12700">
            <a:solidFill>
              <a:srgbClr val="C9A96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FY28 mid-pt: £5.15bn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(mgmt range £5.0–5.3bn)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583680" y="1554480"/>
            <a:ext cx="5212080" cy="365760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13" name="Text 10"/>
          <p:cNvSpPr/>
          <p:nvPr/>
        </p:nvSpPr>
        <p:spPr>
          <a:xfrm>
            <a:off x="6766560" y="16916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BUYBACK FLOOR ANALYSIS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766560" y="1993392"/>
            <a:ext cx="4846320" cy="0"/>
          </a:xfrm>
          <a:prstGeom prst="line">
            <a:avLst/>
          </a:prstGeom>
          <a:noFill/>
          <a:ln w="25400">
            <a:solidFill>
              <a:srgbClr val="C9A96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66560" y="2103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authorisation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9509760" y="21031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£7–9bn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766560" y="2331720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2026–28 (£8bn mid)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766560" y="2606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initial tranche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9509760" y="26060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£2.5bn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766560" y="2834640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c.£200m / month of demand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766560" y="3108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of float absorbed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9509760" y="3108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c.8%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766560" y="3337560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£100bn market cap over 3 years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766560" y="3611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Implied FCF yield floor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9509760" y="3611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5.5%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766560" y="3840480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mgmt 'buy zone' clears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766560" y="4114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Floor price (FY28 FCF)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9509760" y="41148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04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900–950p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766560" y="4343400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(~25% below spot)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766560" y="461772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766560" y="484632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Mechanically, no hard floor at spot — buyback is one sub-day's volume in monthly terms. The credible floor is the FCF-yield level (c.5.5%) — that's where we re-engage.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365760" y="6263640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RR FY25 Results (26-Feb-26); internal DCF model. £8bn mid-point assumed for absorption math.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OSPREY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58000" y="2743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 Holdings plc  |  LSE: RR.  |  23 May 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6537960"/>
            <a:ext cx="1143000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83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M&amp;A Advisory — IC Pre-read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836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50292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Valuation Sensitivities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105156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Implied share price: WACC vs Terminal Growth — current price sits above the upper-bound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1828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WACC →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280160" y="15544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 →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828800"/>
          <a:ext cx="7863840" cy="3200400"/>
        </p:xfrm>
        <a:graphic>
          <a:graphicData uri="http://schemas.openxmlformats.org/drawingml/2006/table">
            <a:tbl>
              <a:tblPr/>
              <a:tblGrid>
                <a:gridCol w="914400"/>
                <a:gridCol w="992124"/>
                <a:gridCol w="992124"/>
                <a:gridCol w="992124"/>
                <a:gridCol w="992124"/>
                <a:gridCol w="992124"/>
                <a:gridCol w="992124"/>
                <a:gridCol w="992124"/>
              </a:tblGrid>
              <a:tr h="400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8.00%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£10.21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£10.60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£10.88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£11.26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£11.68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£12.13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£12.63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F8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8.50%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£9.50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£9.83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£10.06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£10.38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£10.72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£11.10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£11.51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F8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9.00%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£8.88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£9.16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£9.36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£9.63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£9.92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£10.23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£10.57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9.50%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£8.33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£8.58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£8.75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£8.98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9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£9.23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£9.49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£9.78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10.00%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£7.86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£8.07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£8.22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£8.42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£8.63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£8.85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£9.10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10.50%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£7.43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£7.62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£7.75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£7.92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£8.10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£8.30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£8.51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5CD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11.00%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£7.05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£7.22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£7.33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£7.48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£7.64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£7.81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£7.99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8412480" y="1828800"/>
            <a:ext cx="3383280" cy="3200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1"/>
          <p:cNvSpPr/>
          <p:nvPr/>
        </p:nvSpPr>
        <p:spPr>
          <a:xfrm>
            <a:off x="8595360" y="19659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READ-OUT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595360" y="2240280"/>
            <a:ext cx="3017520" cy="0"/>
          </a:xfrm>
          <a:prstGeom prst="line">
            <a:avLst/>
          </a:prstGeom>
          <a:noFill/>
          <a:ln w="19050">
            <a:solidFill>
              <a:srgbClr val="C9A96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95360" y="237744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price 1,208p is only justified at WACC below 8.5% — i.e. the market is pricing investment-grade utility risk.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595360" y="324612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case (highlighted):</a:t>
            </a:r>
            <a:endParaRPr lang="en-US" sz="1100" dirty="0"/>
          </a:p>
          <a:p>
            <a:pPr indent="0" marL="0">
              <a:buNone/>
            </a:pPr>
            <a:r>
              <a:rPr lang="en-US" sz="1100" b="1" i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WACC 9.5%  ×  g 2.25%</a:t>
            </a:r>
            <a:endParaRPr lang="en-US" sz="1100" dirty="0"/>
          </a:p>
          <a:p>
            <a:pPr indent="0" marL="0">
              <a:buNone/>
            </a:pPr>
            <a:r>
              <a:rPr lang="en-US" sz="1100" b="1" i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£8.98 / share</a:t>
            </a:r>
            <a:endParaRPr lang="en-US" sz="1100" dirty="0"/>
          </a:p>
          <a:p>
            <a:pPr indent="0" marL="0">
              <a:buNone/>
            </a:pPr>
            <a:r>
              <a:rPr lang="en-US" sz="1100" b="1" i="1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(26%) downside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595360" y="434340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Bear case (WACC 11%, g 1.5%): £7.05 — that's the level where the buyback math holds.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65760" y="5257800"/>
            <a:ext cx="3703320" cy="1097280"/>
          </a:xfrm>
          <a:prstGeom prst="rect">
            <a:avLst/>
          </a:prstGeom>
          <a:solidFill>
            <a:srgbClr val="F2F4F8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65760" y="5257800"/>
            <a:ext cx="109728" cy="109728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21" name="Text 18"/>
          <p:cNvSpPr/>
          <p:nvPr/>
        </p:nvSpPr>
        <p:spPr>
          <a:xfrm>
            <a:off x="594360" y="53492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WANT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94360" y="5623560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Trim 15–20% above 1,250p. Free risk budget for re-entry.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206240" y="5257800"/>
            <a:ext cx="3703320" cy="1097280"/>
          </a:xfrm>
          <a:prstGeom prst="rect">
            <a:avLst/>
          </a:prstGeom>
          <a:solidFill>
            <a:srgbClr val="F2F4F8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206240" y="5257800"/>
            <a:ext cx="109728" cy="109728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5" name="Text 22"/>
          <p:cNvSpPr/>
          <p:nvPr/>
        </p:nvSpPr>
        <p:spPr>
          <a:xfrm>
            <a:off x="4434840" y="53492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RE-ENGAGE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434840" y="5623560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900–950p — FY28 FCF yield ≥5.5% and buyback math acts as a floor.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8092440" y="5257800"/>
            <a:ext cx="3703320" cy="1097280"/>
          </a:xfrm>
          <a:prstGeom prst="rect">
            <a:avLst/>
          </a:prstGeom>
          <a:solidFill>
            <a:srgbClr val="F2F4F8"/>
          </a:solidFill>
          <a:ln w="12700">
            <a:solidFill>
              <a:srgbClr val="B0413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092440" y="5257800"/>
            <a:ext cx="109728" cy="1097280"/>
          </a:xfrm>
          <a:prstGeom prst="rect">
            <a:avLst/>
          </a:prstGeom>
          <a:solidFill>
            <a:srgbClr val="B0413E"/>
          </a:solidFill>
          <a:ln/>
        </p:spPr>
      </p:sp>
      <p:sp>
        <p:nvSpPr>
          <p:cNvPr id="29" name="Text 26"/>
          <p:cNvSpPr/>
          <p:nvPr/>
        </p:nvSpPr>
        <p:spPr>
          <a:xfrm>
            <a:off x="8321040" y="53492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04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BREAKS THESIS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8321040" y="5623560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FY28 corridor upgrade to £5.5bn+ at the interim, or pullback &lt;950p without thesis impairment.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Osprey — RR Strategic Summary</dc:title>
  <dc:subject>PptxGenJS Presentation</dc:subject>
  <dc:creator>PptxGenJS</dc:creator>
  <cp:lastModifiedBy>PptxGenJS</cp:lastModifiedBy>
  <cp:revision>1</cp:revision>
  <dcterms:created xsi:type="dcterms:W3CDTF">2026-05-23T10:27:55Z</dcterms:created>
  <dcterms:modified xsi:type="dcterms:W3CDTF">2026-05-23T10:27:55Z</dcterms:modified>
</cp:coreProperties>
</file>